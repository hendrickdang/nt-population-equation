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1387816" cy="30275784"/>
  <p:notesSz cx="30275784" cy="2138781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1051560" y="1051560"/>
            <a:ext cx="19284696" cy="310896"/>
          </a:xfrm>
          <a:prstGeom prst="rect">
            <a:avLst/>
          </a:prstGeom>
          <a:noFill/>
          <a:ln/>
        </p:spPr>
        <p:txBody>
          <a:bodyPr wrap="square" lIns="0" tIns="0" rIns="0" bIns="0" rtlCol="0" anchor="ctr"/>
          <a:lstStyle/>
          <a:p>
            <a:pPr indent="0" marL="0">
              <a:buNone/>
            </a:pPr>
            <a:r>
              <a:rPr lang="en-US" sz="1500" b="1" spc="240" kern="0" dirty="0">
                <a:solidFill>
                  <a:srgbClr val="A8552A"/>
                </a:solidFill>
              </a:rPr>
              <a:t>CDU IT CODE FAIR 2026   ·   POSTER COMPETITION   ·   POS006</a:t>
            </a:r>
            <a:endParaRPr lang="en-US" sz="1500" dirty="0"/>
          </a:p>
        </p:txBody>
      </p:sp>
      <p:sp>
        <p:nvSpPr>
          <p:cNvPr id="3" name="Text 1"/>
          <p:cNvSpPr txBox="1"/>
          <p:nvPr/>
        </p:nvSpPr>
        <p:spPr>
          <a:xfrm>
            <a:off x="1051560" y="1527048"/>
            <a:ext cx="19284696" cy="1371600"/>
          </a:xfrm>
          <a:prstGeom prst="rect">
            <a:avLst/>
          </a:prstGeom>
          <a:noFill/>
          <a:ln/>
        </p:spPr>
        <p:txBody>
          <a:bodyPr wrap="square" lIns="0" tIns="0" rIns="0" bIns="0" rtlCol="0" anchor="ctr"/>
          <a:lstStyle/>
          <a:p>
            <a:pPr indent="0" marL="0">
              <a:buNone/>
            </a:pPr>
            <a:r>
              <a:rPr lang="en-US" sz="7600" b="1" dirty="0">
                <a:solidFill>
                  <a:srgbClr val="16181C"/>
                </a:solidFill>
                <a:latin typeface="Cambria" pitchFamily="34" charset="0"/>
                <a:ea typeface="Cambria" pitchFamily="34" charset="-122"/>
                <a:cs typeface="Cambria" pitchFamily="34" charset="-120"/>
              </a:rPr>
              <a:t>The Territory's Population Equation</a:t>
            </a:r>
            <a:endParaRPr lang="en-US" sz="7600" dirty="0"/>
          </a:p>
        </p:txBody>
      </p:sp>
      <p:sp>
        <p:nvSpPr>
          <p:cNvPr id="4" name="Text 2"/>
          <p:cNvSpPr txBox="1"/>
          <p:nvPr/>
        </p:nvSpPr>
        <p:spPr>
          <a:xfrm>
            <a:off x="1051560" y="2990088"/>
            <a:ext cx="19284696" cy="566928"/>
          </a:xfrm>
          <a:prstGeom prst="rect">
            <a:avLst/>
          </a:prstGeom>
          <a:noFill/>
          <a:ln/>
        </p:spPr>
        <p:txBody>
          <a:bodyPr wrap="square" lIns="0" tIns="0" rIns="0" bIns="0" rtlCol="0" anchor="ctr"/>
          <a:lstStyle/>
          <a:p>
            <a:pPr indent="0" marL="0">
              <a:buNone/>
            </a:pPr>
            <a:r>
              <a:rPr lang="en-US" sz="2500" dirty="0">
                <a:solidFill>
                  <a:srgbClr val="52514E"/>
                </a:solidFill>
              </a:rPr>
              <a:t>Where Northern Territory population growth comes from, and which component makes forecasting it hardest</a:t>
            </a:r>
            <a:endParaRPr lang="en-US" sz="2500" dirty="0"/>
          </a:p>
        </p:txBody>
      </p:sp>
      <p:sp>
        <p:nvSpPr>
          <p:cNvPr id="5" name="Text 3"/>
          <p:cNvSpPr txBox="1"/>
          <p:nvPr/>
        </p:nvSpPr>
        <p:spPr>
          <a:xfrm>
            <a:off x="1051560" y="3739896"/>
            <a:ext cx="19284696" cy="365760"/>
          </a:xfrm>
          <a:prstGeom prst="rect">
            <a:avLst/>
          </a:prstGeom>
          <a:noFill/>
          <a:ln/>
        </p:spPr>
        <p:txBody>
          <a:bodyPr wrap="square" lIns="0" tIns="0" rIns="0" bIns="0" rtlCol="0" anchor="ctr"/>
          <a:lstStyle/>
          <a:p>
            <a:pPr indent="0" marL="0">
              <a:buNone/>
            </a:pPr>
            <a:r>
              <a:rPr lang="en-US" sz="1550" dirty="0">
                <a:solidFill>
                  <a:srgbClr val="8B857A"/>
                </a:solidFill>
              </a:rPr>
              <a:t>Van Hoi (Hendrick) Dang  ·  Ngoc Ngan Le  ·  Phuong Vy Ho  ·  Thi Kim Anh Bui    |    Master of Data Science, Faculty of Science and Technology, Charles Darwin University</a:t>
            </a:r>
            <a:endParaRPr lang="en-US" sz="1550" dirty="0"/>
          </a:p>
        </p:txBody>
      </p:sp>
      <p:sp>
        <p:nvSpPr>
          <p:cNvPr id="6" name="Shape 4"/>
          <p:cNvSpPr/>
          <p:nvPr/>
        </p:nvSpPr>
        <p:spPr>
          <a:xfrm>
            <a:off x="1051560" y="4306824"/>
            <a:ext cx="19284696" cy="20117"/>
          </a:xfrm>
          <a:prstGeom prst="rect">
            <a:avLst/>
          </a:prstGeom>
          <a:solidFill>
            <a:srgbClr val="16181C"/>
          </a:solidFill>
          <a:ln/>
        </p:spPr>
      </p:sp>
      <p:sp>
        <p:nvSpPr>
          <p:cNvPr id="7" name="Shape 5"/>
          <p:cNvSpPr/>
          <p:nvPr/>
        </p:nvSpPr>
        <p:spPr>
          <a:xfrm>
            <a:off x="1051560" y="4709160"/>
            <a:ext cx="19284696" cy="2066544"/>
          </a:xfrm>
          <a:prstGeom prst="roundRect">
            <a:avLst>
              <a:gd name="adj" fmla="val 4425"/>
            </a:avLst>
          </a:prstGeom>
          <a:solidFill>
            <a:srgbClr val="F2F0EB"/>
          </a:solidFill>
          <a:ln w="12700">
            <a:solidFill>
              <a:srgbClr val="E0DCD3"/>
            </a:solidFill>
            <a:prstDash val="solid"/>
          </a:ln>
        </p:spPr>
      </p:sp>
      <p:sp>
        <p:nvSpPr>
          <p:cNvPr id="8" name="Text 6"/>
          <p:cNvSpPr txBox="1"/>
          <p:nvPr/>
        </p:nvSpPr>
        <p:spPr>
          <a:xfrm>
            <a:off x="1508760" y="4910328"/>
            <a:ext cx="4663440" cy="1664208"/>
          </a:xfrm>
          <a:prstGeom prst="rect">
            <a:avLst/>
          </a:prstGeom>
          <a:noFill/>
          <a:ln/>
        </p:spPr>
        <p:txBody>
          <a:bodyPr wrap="square" lIns="0" tIns="0" rIns="0" bIns="0" rtlCol="0" anchor="ctr"/>
          <a:lstStyle/>
          <a:p>
            <a:pPr algn="l" indent="0" marL="0">
              <a:buNone/>
            </a:pPr>
            <a:r>
              <a:rPr lang="en-US" sz="11800" b="1" dirty="0">
                <a:solidFill>
                  <a:srgbClr val="EB6834"/>
                </a:solidFill>
                <a:latin typeface="Cambria" pitchFamily="34" charset="0"/>
                <a:ea typeface="Cambria" pitchFamily="34" charset="-122"/>
                <a:cs typeface="Cambria" pitchFamily="34" charset="-120"/>
              </a:rPr>
              <a:t>90.4%</a:t>
            </a:r>
            <a:endParaRPr lang="en-US" sz="11800" dirty="0"/>
          </a:p>
        </p:txBody>
      </p:sp>
      <p:sp>
        <p:nvSpPr>
          <p:cNvPr id="9" name="Text 7"/>
          <p:cNvSpPr txBox="1"/>
          <p:nvPr/>
        </p:nvSpPr>
        <p:spPr>
          <a:xfrm>
            <a:off x="6446520" y="4983480"/>
            <a:ext cx="13341096" cy="1517904"/>
          </a:xfrm>
          <a:prstGeom prst="rect">
            <a:avLst/>
          </a:prstGeom>
          <a:noFill/>
          <a:ln/>
        </p:spPr>
        <p:txBody>
          <a:bodyPr wrap="square" lIns="0" tIns="0" rIns="0" bIns="0" rtlCol="0" anchor="ctr"/>
          <a:lstStyle/>
          <a:p>
            <a:pPr indent="0" marL="0">
              <a:lnSpc>
                <a:spcPts val="3000"/>
              </a:lnSpc>
              <a:buNone/>
            </a:pPr>
            <a:r>
              <a:rPr lang="en-US" sz="2200" b="1" dirty="0">
                <a:solidFill>
                  <a:srgbClr val="16181C"/>
                </a:solidFill>
              </a:rPr>
              <a:t>of the Northern Territory's population growth in the year to March 2026 came from net overseas migration.</a:t>
            </a:r>
            <a:endParaRPr lang="en-US" sz="2200" dirty="0"/>
          </a:p>
          <a:p>
            <a:pPr indent="0" marL="0">
              <a:lnSpc>
                <a:spcPts val="3000"/>
              </a:lnSpc>
              <a:buNone/>
            </a:pPr>
            <a:r>
              <a:rPr lang="en-US" sz="2200" dirty="0">
                <a:solidFill>
                  <a:srgbClr val="52514E"/>
                </a:solidFill>
              </a:rPr>
              <a:t>Natural increase added 1,969. Interstate migration subtracted 1,589. Overseas migration added 3,585. Total growth 3,965, on a population of 268,899.</a:t>
            </a:r>
            <a:endParaRPr lang="en-US" sz="2200" dirty="0"/>
          </a:p>
        </p:txBody>
      </p:sp>
      <p:sp>
        <p:nvSpPr>
          <p:cNvPr id="10" name="Text 8"/>
          <p:cNvSpPr txBox="1"/>
          <p:nvPr/>
        </p:nvSpPr>
        <p:spPr>
          <a:xfrm>
            <a:off x="1051560" y="7059168"/>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ABSTRACT</a:t>
            </a:r>
            <a:endParaRPr lang="en-US" sz="1500" dirty="0"/>
          </a:p>
        </p:txBody>
      </p:sp>
      <p:sp>
        <p:nvSpPr>
          <p:cNvPr id="11" name="Text 9"/>
          <p:cNvSpPr txBox="1"/>
          <p:nvPr/>
        </p:nvSpPr>
        <p:spPr>
          <a:xfrm>
            <a:off x="1051560" y="7479792"/>
            <a:ext cx="6050280" cy="5029200"/>
          </a:xfrm>
          <a:prstGeom prst="rect">
            <a:avLst/>
          </a:prstGeom>
          <a:noFill/>
          <a:ln/>
        </p:spPr>
        <p:txBody>
          <a:bodyPr wrap="square" lIns="0" tIns="0" rIns="0" bIns="0" rtlCol="0" anchor="t"/>
          <a:lstStyle/>
          <a:p>
            <a:pPr indent="0" marL="0">
              <a:lnSpc>
                <a:spcPts val="2300"/>
              </a:lnSpc>
              <a:buNone/>
            </a:pPr>
            <a:r>
              <a:rPr lang="en-US" sz="1650" dirty="0">
                <a:solidFill>
                  <a:srgbClr val="16181C"/>
                </a:solidFill>
              </a:rPr>
              <a:t>The Northern Territory is the only Australian jurisdiction that loses residents to other states while still growing. This project asked how much of that growth comes from each of the three components of population change, and how reliable those estimates are. Quarterly components for the NT were extracted from ABS table 310102, June 1981 to March 2026 (180 quarters), and reconciled against the published change before analysis. In the latest twelve months net overseas migration accounted for 90.4% of growth, up from 74.4% across the last decade. Net interstate migration has been negative for 18 consecutive quarters, and was positive in only 8% of quarters in the 2010s against 49% in the 1980s. Both migration components are far more volatile than natural increase. Territory population growth now rests on its least stable inputs. The analysis is descriptive and makes no policy recommendation.</a:t>
            </a:r>
            <a:endParaRPr lang="en-US" sz="1650" dirty="0"/>
          </a:p>
        </p:txBody>
      </p:sp>
      <p:sp>
        <p:nvSpPr>
          <p:cNvPr id="12" name="Text 10"/>
          <p:cNvSpPr txBox="1"/>
          <p:nvPr/>
        </p:nvSpPr>
        <p:spPr>
          <a:xfrm>
            <a:off x="7668768" y="7059168"/>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BACKGROUND</a:t>
            </a:r>
            <a:endParaRPr lang="en-US" sz="1500" dirty="0"/>
          </a:p>
        </p:txBody>
      </p:sp>
      <p:sp>
        <p:nvSpPr>
          <p:cNvPr id="13" name="Text 11"/>
          <p:cNvSpPr txBox="1"/>
          <p:nvPr/>
        </p:nvSpPr>
        <p:spPr>
          <a:xfrm>
            <a:off x="7668768" y="7479792"/>
            <a:ext cx="6050280" cy="5852160"/>
          </a:xfrm>
          <a:prstGeom prst="rect">
            <a:avLst/>
          </a:prstGeom>
          <a:noFill/>
          <a:ln/>
        </p:spPr>
        <p:txBody>
          <a:bodyPr wrap="square" lIns="0" tIns="0" rIns="0" bIns="0" rtlCol="0" anchor="t"/>
          <a:lstStyle/>
          <a:p>
            <a:pPr indent="0" marL="0">
              <a:lnSpc>
                <a:spcPts val="2300"/>
              </a:lnSpc>
              <a:buNone/>
            </a:pPr>
            <a:r>
              <a:rPr lang="en-US" sz="1650" dirty="0">
                <a:solidFill>
                  <a:srgbClr val="16181C"/>
                </a:solidFill>
              </a:rPr>
              <a:t>The Northern Territory plans schools, hospitals and housing from population forecasts. A forecast is only as stable as the parts it is built from.</a:t>
            </a:r>
            <a:endParaRPr lang="en-US" sz="1650" dirty="0"/>
          </a:p>
          <a:p>
            <a:pPr indent="0" marL="0">
              <a:lnSpc>
                <a:spcPts val="2300"/>
              </a:lnSpc>
              <a:buNone/>
            </a:pPr>
            <a:endParaRPr lang="en-US" sz="1650" dirty="0"/>
          </a:p>
          <a:p>
            <a:pPr indent="0" marL="0">
              <a:lnSpc>
                <a:spcPts val="2300"/>
              </a:lnSpc>
              <a:buNone/>
            </a:pPr>
            <a:r>
              <a:rPr lang="en-US" sz="1650" dirty="0">
                <a:solidFill>
                  <a:srgbClr val="16181C"/>
                </a:solidFill>
              </a:rPr>
              <a:t>Population change has exactly three components:</a:t>
            </a:r>
            <a:endParaRPr lang="en-US" sz="1650" dirty="0"/>
          </a:p>
          <a:p>
            <a:pPr indent="0" marL="0">
              <a:lnSpc>
                <a:spcPts val="2300"/>
              </a:lnSpc>
              <a:buNone/>
            </a:pPr>
            <a:endParaRPr lang="en-US" sz="1650" dirty="0"/>
          </a:p>
          <a:p>
            <a:pPr indent="0" marL="0">
              <a:lnSpc>
                <a:spcPts val="2300"/>
              </a:lnSpc>
              <a:buNone/>
            </a:pPr>
            <a:r>
              <a:rPr lang="en-US" sz="1650" dirty="0">
                <a:solidFill>
                  <a:srgbClr val="16181C"/>
                </a:solidFill>
              </a:rPr>
              <a:t>change  =  natural increase  +  net interstate migration  +  net overseas migration</a:t>
            </a:r>
            <a:endParaRPr lang="en-US" sz="1650" dirty="0"/>
          </a:p>
          <a:p>
            <a:pPr indent="0" marL="0">
              <a:lnSpc>
                <a:spcPts val="2300"/>
              </a:lnSpc>
              <a:buNone/>
            </a:pPr>
            <a:endParaRPr lang="en-US" sz="1650" dirty="0"/>
          </a:p>
          <a:p>
            <a:pPr indent="0" marL="0">
              <a:lnSpc>
                <a:spcPts val="2300"/>
              </a:lnSpc>
              <a:buNone/>
            </a:pPr>
            <a:r>
              <a:rPr lang="en-US" sz="1650" dirty="0">
                <a:solidFill>
                  <a:srgbClr val="16181C"/>
                </a:solidFill>
              </a:rPr>
              <a:t>The ABS publishes all three every quarter, for every state and territory. What is not published is how much of the Territory's growth each component carries, or how steady each one is. Those two questions decide how much confidence a planner can place in a headline growth figure.</a:t>
            </a:r>
            <a:endParaRPr lang="en-US" sz="1650" dirty="0"/>
          </a:p>
        </p:txBody>
      </p:sp>
      <p:sp>
        <p:nvSpPr>
          <p:cNvPr id="14" name="Text 12"/>
          <p:cNvSpPr txBox="1"/>
          <p:nvPr/>
        </p:nvSpPr>
        <p:spPr>
          <a:xfrm>
            <a:off x="14285976" y="10579608"/>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OBJECTIVES</a:t>
            </a:r>
            <a:endParaRPr lang="en-US" sz="1500" dirty="0"/>
          </a:p>
        </p:txBody>
      </p:sp>
      <p:sp>
        <p:nvSpPr>
          <p:cNvPr id="15" name="Text 13"/>
          <p:cNvSpPr txBox="1"/>
          <p:nvPr/>
        </p:nvSpPr>
        <p:spPr>
          <a:xfrm>
            <a:off x="14285976" y="11000232"/>
            <a:ext cx="6050280" cy="2651760"/>
          </a:xfrm>
          <a:prstGeom prst="rect">
            <a:avLst/>
          </a:prstGeom>
          <a:noFill/>
          <a:ln/>
        </p:spPr>
        <p:txBody>
          <a:bodyPr wrap="square" lIns="0" tIns="0" rIns="0" bIns="0" rtlCol="0" anchor="ctr"/>
          <a:lstStyle/>
          <a:p>
            <a:pPr marL="342900" indent="-342900">
              <a:lnSpc>
                <a:spcPts val="2500"/>
              </a:lnSpc>
              <a:spcAft>
                <a:spcPts val="1200"/>
              </a:spcAft>
              <a:buSzPct val="100000"/>
              <a:buChar char="•"/>
            </a:pPr>
            <a:r>
              <a:rPr lang="en-US" sz="1650" dirty="0">
                <a:solidFill>
                  <a:srgbClr val="16181C"/>
                </a:solidFill>
              </a:rPr>
              <a:t>Quantify the contribution of each component to NT population growth, June 1981 to March 2026.</a:t>
            </a:r>
            <a:endParaRPr lang="en-US" sz="1650" dirty="0"/>
          </a:p>
          <a:p>
            <a:pPr marL="342900" indent="-342900">
              <a:lnSpc>
                <a:spcPts val="2500"/>
              </a:lnSpc>
              <a:spcAft>
                <a:spcPts val="1200"/>
              </a:spcAft>
              <a:buSzPct val="100000"/>
              <a:buChar char="•"/>
            </a:pPr>
            <a:r>
              <a:rPr lang="en-US" sz="1650" dirty="0">
                <a:solidFill>
                  <a:srgbClr val="16181C"/>
                </a:solidFill>
              </a:rPr>
              <a:t>Measure the volatility of each component across the full series.</a:t>
            </a:r>
            <a:endParaRPr lang="en-US" sz="1650" dirty="0"/>
          </a:p>
          <a:p>
            <a:pPr marL="342900" indent="-342900">
              <a:lnSpc>
                <a:spcPts val="2500"/>
              </a:lnSpc>
              <a:spcAft>
                <a:spcPts val="1200"/>
              </a:spcAft>
              <a:buSzPct val="100000"/>
              <a:buChar char="•"/>
            </a:pPr>
            <a:r>
              <a:rPr lang="en-US" sz="1650" dirty="0">
                <a:solidFill>
                  <a:srgbClr val="16181C"/>
                </a:solidFill>
              </a:rPr>
              <a:t>Determine whether growth depends on the components that are least stable.</a:t>
            </a:r>
            <a:endParaRPr lang="en-US" sz="1650" dirty="0"/>
          </a:p>
          <a:p>
            <a:pPr marL="342900" indent="-342900">
              <a:lnSpc>
                <a:spcPts val="2500"/>
              </a:lnSpc>
              <a:spcAft>
                <a:spcPts val="1200"/>
              </a:spcAft>
              <a:buSzPct val="100000"/>
              <a:buChar char="•"/>
            </a:pPr>
            <a:r>
              <a:rPr lang="en-US" sz="1650" dirty="0">
                <a:solidFill>
                  <a:srgbClr val="16181C"/>
                </a:solidFill>
              </a:rPr>
              <a:t>Validate every figure against the change ABS publishes, before reporting it.</a:t>
            </a:r>
            <a:endParaRPr lang="en-US" sz="1650" dirty="0"/>
          </a:p>
        </p:txBody>
      </p:sp>
      <p:sp>
        <p:nvSpPr>
          <p:cNvPr id="16" name="Text 14"/>
          <p:cNvSpPr txBox="1"/>
          <p:nvPr/>
        </p:nvSpPr>
        <p:spPr>
          <a:xfrm>
            <a:off x="14285976" y="7059168"/>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METHODOLOGY</a:t>
            </a:r>
            <a:endParaRPr lang="en-US" sz="1500" dirty="0"/>
          </a:p>
        </p:txBody>
      </p:sp>
      <p:sp>
        <p:nvSpPr>
          <p:cNvPr id="17" name="Text 15"/>
          <p:cNvSpPr txBox="1"/>
          <p:nvPr/>
        </p:nvSpPr>
        <p:spPr>
          <a:xfrm>
            <a:off x="14285976" y="7479792"/>
            <a:ext cx="6050280" cy="3108960"/>
          </a:xfrm>
          <a:prstGeom prst="rect">
            <a:avLst/>
          </a:prstGeom>
          <a:noFill/>
          <a:ln/>
        </p:spPr>
        <p:txBody>
          <a:bodyPr wrap="square" lIns="0" tIns="0" rIns="0" bIns="0" rtlCol="0" anchor="t"/>
          <a:lstStyle/>
          <a:p>
            <a:pPr indent="0" marL="0">
              <a:lnSpc>
                <a:spcPts val="2300"/>
              </a:lnSpc>
              <a:buNone/>
            </a:pPr>
            <a:r>
              <a:rPr lang="en-US" sz="1650" b="1" dirty="0">
                <a:solidFill>
                  <a:srgbClr val="16181C"/>
                </a:solidFill>
              </a:rPr>
              <a:t>Source. </a:t>
            </a:r>
            <a:pPr indent="0" marL="0">
              <a:lnSpc>
                <a:spcPts val="2300"/>
              </a:lnSpc>
              <a:buNone/>
            </a:pPr>
            <a:r>
              <a:rPr lang="en-US" sz="1650" dirty="0">
                <a:solidFill>
                  <a:srgbClr val="16181C"/>
                </a:solidFill>
              </a:rPr>
              <a:t>ABS tables 310102 (components) and 310104 (population), March 2026.
</a:t>
            </a:r>
            <a:pPr indent="0" marL="0">
              <a:lnSpc>
                <a:spcPts val="2300"/>
              </a:lnSpc>
              <a:buNone/>
            </a:pPr>
            <a:r>
              <a:rPr lang="en-US" sz="1650" b="1" dirty="0">
                <a:solidFill>
                  <a:srgbClr val="16181C"/>
                </a:solidFill>
              </a:rPr>
              <a:t>Extract. </a:t>
            </a:r>
            <a:pPr indent="0" marL="0">
              <a:lnSpc>
                <a:spcPts val="2300"/>
              </a:lnSpc>
              <a:buNone/>
            </a:pPr>
            <a:r>
              <a:rPr lang="en-US" sz="1650" dirty="0">
                <a:solidFill>
                  <a:srgbClr val="16181C"/>
                </a:solidFill>
              </a:rPr>
              <a:t>Python pipeline locates the NT columns by header text, so an ABS layout change fails loudly rather than silently.
</a:t>
            </a:r>
            <a:pPr indent="0" marL="0">
              <a:lnSpc>
                <a:spcPts val="2300"/>
              </a:lnSpc>
              <a:buNone/>
            </a:pPr>
            <a:r>
              <a:rPr lang="en-US" sz="1650" b="1" dirty="0">
                <a:solidFill>
                  <a:srgbClr val="16181C"/>
                </a:solidFill>
              </a:rPr>
              <a:t>Validate. </a:t>
            </a:r>
            <a:pPr indent="0" marL="0">
              <a:lnSpc>
                <a:spcPts val="2300"/>
              </a:lnSpc>
              <a:buNone/>
            </a:pPr>
            <a:r>
              <a:rPr lang="en-US" sz="1650" dirty="0">
                <a:solidFill>
                  <a:srgbClr val="16181C"/>
                </a:solidFill>
              </a:rPr>
              <a:t>Components must sum to the published change. They do, exactly: 3,965 against 3,965.
</a:t>
            </a:r>
            <a:pPr indent="0" marL="0">
              <a:lnSpc>
                <a:spcPts val="2300"/>
              </a:lnSpc>
              <a:buNone/>
            </a:pPr>
            <a:r>
              <a:rPr lang="en-US" sz="1650" b="1" dirty="0">
                <a:solidFill>
                  <a:srgbClr val="16181C"/>
                </a:solidFill>
              </a:rPr>
              <a:t>Measure. </a:t>
            </a:r>
            <a:pPr indent="0" marL="0">
              <a:lnSpc>
                <a:spcPts val="2300"/>
              </a:lnSpc>
              <a:buNone/>
            </a:pPr>
            <a:r>
              <a:rPr lang="en-US" sz="1650" dirty="0">
                <a:solidFill>
                  <a:srgbClr val="16181C"/>
                </a:solidFill>
              </a:rPr>
              <a:t>Coefficient of variation against mean absolute value, because interstate migration is mostly negative.
</a:t>
            </a:r>
            <a:pPr indent="0" marL="0">
              <a:lnSpc>
                <a:spcPts val="2300"/>
              </a:lnSpc>
              <a:buNone/>
            </a:pPr>
            <a:r>
              <a:rPr lang="en-US" sz="1650" b="1" dirty="0">
                <a:solidFill>
                  <a:srgbClr val="16181C"/>
                </a:solidFill>
              </a:rPr>
              <a:t>Reproduce. </a:t>
            </a:r>
            <a:pPr indent="0" marL="0">
              <a:lnSpc>
                <a:spcPts val="2300"/>
              </a:lnSpc>
              <a:buNone/>
            </a:pPr>
            <a:r>
              <a:rPr lang="en-US" sz="1650" dirty="0">
                <a:solidFill>
                  <a:srgbClr val="16181C"/>
                </a:solidFill>
              </a:rPr>
              <a:t>One command re-runs everything when the next quarter publishes.</a:t>
            </a:r>
            <a:endParaRPr lang="en-US" sz="1650" dirty="0"/>
          </a:p>
        </p:txBody>
      </p:sp>
      <p:sp>
        <p:nvSpPr>
          <p:cNvPr id="18" name="Text 16"/>
          <p:cNvSpPr txBox="1"/>
          <p:nvPr/>
        </p:nvSpPr>
        <p:spPr>
          <a:xfrm>
            <a:off x="1051560" y="13807440"/>
            <a:ext cx="19284696" cy="310896"/>
          </a:xfrm>
          <a:prstGeom prst="rect">
            <a:avLst/>
          </a:prstGeom>
          <a:noFill/>
          <a:ln/>
        </p:spPr>
        <p:txBody>
          <a:bodyPr wrap="square" lIns="0" tIns="0" rIns="0" bIns="0" rtlCol="0" anchor="ctr"/>
          <a:lstStyle/>
          <a:p>
            <a:pPr indent="0" marL="0">
              <a:buNone/>
            </a:pPr>
            <a:r>
              <a:rPr lang="en-US" sz="1500" b="1" spc="220" kern="0" dirty="0">
                <a:solidFill>
                  <a:srgbClr val="A8552A"/>
                </a:solidFill>
              </a:rPr>
              <a:t>RESULTS</a:t>
            </a:r>
            <a:endParaRPr lang="en-US" sz="1500" dirty="0"/>
          </a:p>
        </p:txBody>
      </p:sp>
      <p:sp>
        <p:nvSpPr>
          <p:cNvPr id="19" name="Text 17"/>
          <p:cNvSpPr txBox="1"/>
          <p:nvPr/>
        </p:nvSpPr>
        <p:spPr>
          <a:xfrm>
            <a:off x="1051560" y="14228064"/>
            <a:ext cx="19284696" cy="676656"/>
          </a:xfrm>
          <a:prstGeom prst="rect">
            <a:avLst/>
          </a:prstGeom>
          <a:noFill/>
          <a:ln/>
        </p:spPr>
        <p:txBody>
          <a:bodyPr wrap="square" lIns="0" tIns="0" rIns="0" bIns="0" rtlCol="0" anchor="ctr"/>
          <a:lstStyle/>
          <a:p>
            <a:pPr indent="0" marL="0">
              <a:lnSpc>
                <a:spcPts val="2500"/>
              </a:lnSpc>
              <a:buNone/>
            </a:pPr>
            <a:r>
              <a:rPr lang="en-US" sz="1800" dirty="0">
                <a:solidFill>
                  <a:srgbClr val="52514E"/>
                </a:solidFill>
              </a:rPr>
              <a:t>Natural increase is steady and slowly declining. Overseas migration has become the Territory's engine of growth. Interstate migration has spent most of the last fifteen years below zero.</a:t>
            </a:r>
            <a:endParaRPr lang="en-US" sz="1800" dirty="0"/>
          </a:p>
        </p:txBody>
      </p:sp>
      <p:pic>
        <p:nvPicPr>
          <p:cNvPr id="20" name="componentsChart" descr="/mnt/attach/outputs/nt-population-equation/outputs/poster_components.png">    </p:cNvPr>
          <p:cNvPicPr>
            <a:picLocks noChangeAspect="1"/>
          </p:cNvPicPr>
          <p:nvPr/>
        </p:nvPicPr>
        <p:blipFill>
          <a:blip r:embed="rId1"/>
          <a:stretch>
            <a:fillRect/>
          </a:stretch>
        </p:blipFill>
        <p:spPr>
          <a:xfrm>
            <a:off x="1051560" y="14959584"/>
            <a:ext cx="19284696" cy="5650992"/>
          </a:xfrm>
          <a:prstGeom prst="rect">
            <a:avLst/>
          </a:prstGeom>
        </p:spPr>
      </p:pic>
      <p:sp>
        <p:nvSpPr>
          <p:cNvPr id="21" name="Text 18"/>
          <p:cNvSpPr txBox="1"/>
          <p:nvPr/>
        </p:nvSpPr>
        <p:spPr>
          <a:xfrm>
            <a:off x="1051560" y="20683728"/>
            <a:ext cx="19284696" cy="310896"/>
          </a:xfrm>
          <a:prstGeom prst="rect">
            <a:avLst/>
          </a:prstGeom>
          <a:noFill/>
          <a:ln/>
        </p:spPr>
        <p:txBody>
          <a:bodyPr wrap="square" lIns="0" tIns="0" rIns="0" bIns="0" rtlCol="0" anchor="ctr"/>
          <a:lstStyle/>
          <a:p>
            <a:pPr indent="0" marL="0">
              <a:buNone/>
            </a:pPr>
            <a:r>
              <a:rPr lang="en-US" sz="1400" dirty="0">
                <a:solidFill>
                  <a:srgbClr val="8B857A"/>
                </a:solidFill>
              </a:rPr>
              <a:t>Northern Territory population change by component. Four-quarter rolling average, June 1981 to March 2026. Source: ABS table 310102.</a:t>
            </a:r>
            <a:endParaRPr lang="en-US" sz="1400" dirty="0"/>
          </a:p>
        </p:txBody>
      </p:sp>
      <p:pic>
        <p:nvPicPr>
          <p:cNvPr id="22" name="poster_dependency" descr="/mnt/attach/outputs/nt-population-equation/outputs/poster_dependency.png">    </p:cNvPr>
          <p:cNvPicPr>
            <a:picLocks noChangeAspect="1"/>
          </p:cNvPicPr>
          <p:nvPr/>
        </p:nvPicPr>
        <p:blipFill>
          <a:blip r:embed="rId2"/>
          <a:stretch>
            <a:fillRect/>
          </a:stretch>
        </p:blipFill>
        <p:spPr>
          <a:xfrm>
            <a:off x="1051560" y="21076920"/>
            <a:ext cx="6050280" cy="3246120"/>
          </a:xfrm>
          <a:prstGeom prst="rect">
            <a:avLst/>
          </a:prstGeom>
        </p:spPr>
      </p:pic>
      <p:pic>
        <p:nvPicPr>
          <p:cNvPr id="23" name="poster_volatility" descr="/mnt/attach/outputs/nt-population-equation/outputs/poster_volatility.png">    </p:cNvPr>
          <p:cNvPicPr>
            <a:picLocks noChangeAspect="1"/>
          </p:cNvPicPr>
          <p:nvPr/>
        </p:nvPicPr>
        <p:blipFill>
          <a:blip r:embed="rId3"/>
          <a:stretch>
            <a:fillRect/>
          </a:stretch>
        </p:blipFill>
        <p:spPr>
          <a:xfrm>
            <a:off x="7668768" y="21076920"/>
            <a:ext cx="6050280" cy="3246120"/>
          </a:xfrm>
          <a:prstGeom prst="rect">
            <a:avLst/>
          </a:prstGeom>
        </p:spPr>
      </p:pic>
      <p:pic>
        <p:nvPicPr>
          <p:cNvPr id="24" name="poster_decades" descr="/mnt/attach/outputs/nt-population-equation/outputs/poster_decades.png">    </p:cNvPr>
          <p:cNvPicPr>
            <a:picLocks noChangeAspect="1"/>
          </p:cNvPicPr>
          <p:nvPr/>
        </p:nvPicPr>
        <p:blipFill>
          <a:blip r:embed="rId4"/>
          <a:stretch>
            <a:fillRect/>
          </a:stretch>
        </p:blipFill>
        <p:spPr>
          <a:xfrm>
            <a:off x="14285976" y="21076920"/>
            <a:ext cx="6050280" cy="3246120"/>
          </a:xfrm>
          <a:prstGeom prst="rect">
            <a:avLst/>
          </a:prstGeom>
        </p:spPr>
      </p:pic>
      <p:sp>
        <p:nvSpPr>
          <p:cNvPr id="25" name="Text 19"/>
          <p:cNvSpPr txBox="1"/>
          <p:nvPr/>
        </p:nvSpPr>
        <p:spPr>
          <a:xfrm>
            <a:off x="1051560" y="24368760"/>
            <a:ext cx="12667488" cy="310896"/>
          </a:xfrm>
          <a:prstGeom prst="rect">
            <a:avLst/>
          </a:prstGeom>
          <a:noFill/>
          <a:ln/>
        </p:spPr>
        <p:txBody>
          <a:bodyPr wrap="square" lIns="0" tIns="0" rIns="0" bIns="0" rtlCol="0" anchor="ctr"/>
          <a:lstStyle/>
          <a:p>
            <a:pPr indent="0" marL="0">
              <a:buNone/>
            </a:pPr>
            <a:r>
              <a:rPr lang="en-US" sz="1500" b="1" spc="220" kern="0" dirty="0">
                <a:solidFill>
                  <a:srgbClr val="A8552A"/>
                </a:solidFill>
              </a:rPr>
              <a:t>CONCLUSIONS</a:t>
            </a:r>
            <a:endParaRPr lang="en-US" sz="1500" dirty="0"/>
          </a:p>
        </p:txBody>
      </p:sp>
      <p:sp>
        <p:nvSpPr>
          <p:cNvPr id="26" name="Text 20"/>
          <p:cNvSpPr txBox="1"/>
          <p:nvPr/>
        </p:nvSpPr>
        <p:spPr>
          <a:xfrm>
            <a:off x="1051560" y="24789384"/>
            <a:ext cx="12667488" cy="2743200"/>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650" dirty="0">
                <a:solidFill>
                  <a:srgbClr val="16181C"/>
                </a:solidFill>
              </a:rPr>
              <a:t>Overseas migration now carries 90.4% of the Territory's growth, up from 84.5% over five years and 74.4% over ten. The reliance is increasing, not steady.</a:t>
            </a:r>
            <a:endParaRPr lang="en-US" sz="1650" dirty="0"/>
          </a:p>
          <a:p>
            <a:pPr marL="342900" indent="-342900">
              <a:lnSpc>
                <a:spcPts val="2300"/>
              </a:lnSpc>
              <a:spcAft>
                <a:spcPts val="900"/>
              </a:spcAft>
              <a:buSzPct val="100000"/>
              <a:buChar char="•"/>
            </a:pPr>
            <a:r>
              <a:rPr lang="en-US" sz="1650" dirty="0">
                <a:solidFill>
                  <a:srgbClr val="16181C"/>
                </a:solidFill>
              </a:rPr>
              <a:t>The interstate deficit is recent. Net interstate migration was positive in 49% of quarters in the 1980s and 8% in the 2010s, and has been negative for 18 straight quarters since September 2021.</a:t>
            </a:r>
            <a:endParaRPr lang="en-US" sz="1650" dirty="0"/>
          </a:p>
          <a:p>
            <a:pPr marL="342900" indent="-342900">
              <a:lnSpc>
                <a:spcPts val="2300"/>
              </a:lnSpc>
              <a:spcAft>
                <a:spcPts val="900"/>
              </a:spcAft>
              <a:buSzPct val="100000"/>
              <a:buChar char="•"/>
            </a:pPr>
            <a:r>
              <a:rPr lang="en-US" sz="1650" dirty="0">
                <a:solidFill>
                  <a:srgbClr val="16181C"/>
                </a:solidFill>
              </a:rPr>
              <a:t>Natural increase is the only steady component (coefficient of variation 0.13). Interstate (1.14) and overseas (0.96) migration are roughly eight times more variable.</a:t>
            </a:r>
            <a:endParaRPr lang="en-US" sz="1650" dirty="0"/>
          </a:p>
          <a:p>
            <a:pPr marL="342900" indent="-342900">
              <a:lnSpc>
                <a:spcPts val="2300"/>
              </a:lnSpc>
              <a:spcAft>
                <a:spcPts val="900"/>
              </a:spcAft>
              <a:buSzPct val="100000"/>
              <a:buChar char="•"/>
            </a:pPr>
            <a:r>
              <a:rPr lang="en-US" sz="1650" dirty="0">
                <a:solidFill>
                  <a:srgbClr val="16181C"/>
                </a:solidFill>
              </a:rPr>
              <a:t>Territory growth has shifted onto its least stable inputs, so forecast uncertainty now sits in the migration components. A single headline growth rate does not show this.</a:t>
            </a:r>
            <a:endParaRPr lang="en-US" sz="1650" dirty="0"/>
          </a:p>
        </p:txBody>
      </p:sp>
      <p:sp>
        <p:nvSpPr>
          <p:cNvPr id="27" name="Text 21"/>
          <p:cNvSpPr txBox="1"/>
          <p:nvPr/>
        </p:nvSpPr>
        <p:spPr>
          <a:xfrm>
            <a:off x="1051560" y="27660600"/>
            <a:ext cx="12667488" cy="310896"/>
          </a:xfrm>
          <a:prstGeom prst="rect">
            <a:avLst/>
          </a:prstGeom>
          <a:noFill/>
          <a:ln/>
        </p:spPr>
        <p:txBody>
          <a:bodyPr wrap="square" lIns="0" tIns="0" rIns="0" bIns="0" rtlCol="0" anchor="ctr"/>
          <a:lstStyle/>
          <a:p>
            <a:pPr indent="0" marL="0">
              <a:buNone/>
            </a:pPr>
            <a:r>
              <a:rPr lang="en-US" sz="1500" b="1" spc="220" kern="0" dirty="0">
                <a:solidFill>
                  <a:srgbClr val="A8552A"/>
                </a:solidFill>
              </a:rPr>
              <a:t>LIMITATIONS</a:t>
            </a:r>
            <a:endParaRPr lang="en-US" sz="1500" dirty="0"/>
          </a:p>
        </p:txBody>
      </p:sp>
      <p:sp>
        <p:nvSpPr>
          <p:cNvPr id="28" name="Text 22"/>
          <p:cNvSpPr txBox="1"/>
          <p:nvPr/>
        </p:nvSpPr>
        <p:spPr>
          <a:xfrm>
            <a:off x="1051560" y="28081224"/>
            <a:ext cx="12667488" cy="1051560"/>
          </a:xfrm>
          <a:prstGeom prst="rect">
            <a:avLst/>
          </a:prstGeom>
          <a:noFill/>
          <a:ln/>
        </p:spPr>
        <p:txBody>
          <a:bodyPr wrap="square" lIns="0" tIns="0" rIns="0" bIns="0" rtlCol="0" anchor="ctr"/>
          <a:lstStyle/>
          <a:p>
            <a:pPr indent="0" marL="0">
              <a:lnSpc>
                <a:spcPts val="2100"/>
              </a:lnSpc>
              <a:buNone/>
            </a:pPr>
            <a:r>
              <a:rPr lang="en-US" sz="1550" dirty="0">
                <a:solidFill>
                  <a:srgbClr val="52514E"/>
                </a:solidFill>
              </a:rPr>
              <a:t>Net overseas migration uses the 12-of-16-month rule, so a person can change category without changing address. Interstate movement is derived from administrative address records, so people who rarely update them are counted late or not at all. Census undercount is higher in the Territory than nationally, particularly in remote communities, and estimated resident population is rebased after each Census. These remain estimates, and this project treats them as such.</a:t>
            </a:r>
            <a:endParaRPr lang="en-US" sz="1550" dirty="0"/>
          </a:p>
        </p:txBody>
      </p:sp>
      <p:sp>
        <p:nvSpPr>
          <p:cNvPr id="29" name="Text 23"/>
          <p:cNvSpPr txBox="1"/>
          <p:nvPr/>
        </p:nvSpPr>
        <p:spPr>
          <a:xfrm>
            <a:off x="14285976" y="24368760"/>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CODE AND DATA</a:t>
            </a:r>
            <a:endParaRPr lang="en-US" sz="1500" dirty="0"/>
          </a:p>
        </p:txBody>
      </p:sp>
      <p:pic>
        <p:nvPicPr>
          <p:cNvPr id="30" name="qrRepo" descr="/mnt/attach/outputs/nt-population-equation/outputs/qr_repo.png">    </p:cNvPr>
          <p:cNvPicPr>
            <a:picLocks noChangeAspect="1"/>
          </p:cNvPicPr>
          <p:nvPr/>
        </p:nvPicPr>
        <p:blipFill>
          <a:blip r:embed="rId5"/>
          <a:stretch>
            <a:fillRect/>
          </a:stretch>
        </p:blipFill>
        <p:spPr>
          <a:xfrm>
            <a:off x="14285976" y="24789384"/>
            <a:ext cx="2148840" cy="2148840"/>
          </a:xfrm>
          <a:prstGeom prst="rect">
            <a:avLst/>
          </a:prstGeom>
        </p:spPr>
      </p:pic>
      <p:sp>
        <p:nvSpPr>
          <p:cNvPr id="31" name="Text 24"/>
          <p:cNvSpPr txBox="1"/>
          <p:nvPr/>
        </p:nvSpPr>
        <p:spPr>
          <a:xfrm>
            <a:off x="16663416" y="24807672"/>
            <a:ext cx="3672840" cy="2103120"/>
          </a:xfrm>
          <a:prstGeom prst="rect">
            <a:avLst/>
          </a:prstGeom>
          <a:noFill/>
          <a:ln/>
        </p:spPr>
        <p:txBody>
          <a:bodyPr wrap="square" lIns="0" tIns="0" rIns="0" bIns="0" rtlCol="0" anchor="ctr"/>
          <a:lstStyle/>
          <a:p>
            <a:pPr indent="0" marL="0">
              <a:lnSpc>
                <a:spcPts val="2000"/>
              </a:lnSpc>
              <a:buNone/>
            </a:pPr>
            <a:r>
              <a:rPr lang="en-US" sz="1450" dirty="0">
                <a:solidFill>
                  <a:srgbClr val="52514E"/>
                </a:solidFill>
              </a:rPr>
              <a:t>Every figure on this poster is produced by the pipeline in this repository, from the ABS files cited below. Scan for the code, the cleaned series and an interactive version of the chart above.</a:t>
            </a:r>
            <a:endParaRPr lang="en-US" sz="1450" dirty="0"/>
          </a:p>
        </p:txBody>
      </p:sp>
      <p:sp>
        <p:nvSpPr>
          <p:cNvPr id="32" name="Text 25"/>
          <p:cNvSpPr txBox="1"/>
          <p:nvPr/>
        </p:nvSpPr>
        <p:spPr>
          <a:xfrm>
            <a:off x="14285976" y="27075384"/>
            <a:ext cx="6050280" cy="310896"/>
          </a:xfrm>
          <a:prstGeom prst="rect">
            <a:avLst/>
          </a:prstGeom>
          <a:noFill/>
          <a:ln/>
        </p:spPr>
        <p:txBody>
          <a:bodyPr wrap="square" lIns="0" tIns="0" rIns="0" bIns="0" rtlCol="0" anchor="ctr"/>
          <a:lstStyle/>
          <a:p>
            <a:pPr indent="0" marL="0">
              <a:buNone/>
            </a:pPr>
            <a:r>
              <a:rPr lang="en-US" sz="1450" b="1" dirty="0">
                <a:solidFill>
                  <a:srgbClr val="A8552A"/>
                </a:solidFill>
              </a:rPr>
              <a:t>github.com/HendrickDang/nt-population-equation</a:t>
            </a:r>
            <a:endParaRPr lang="en-US" sz="1450" dirty="0"/>
          </a:p>
        </p:txBody>
      </p:sp>
      <p:sp>
        <p:nvSpPr>
          <p:cNvPr id="33" name="Text 26"/>
          <p:cNvSpPr txBox="1"/>
          <p:nvPr/>
        </p:nvSpPr>
        <p:spPr>
          <a:xfrm>
            <a:off x="14285976" y="27660600"/>
            <a:ext cx="6050280" cy="310896"/>
          </a:xfrm>
          <a:prstGeom prst="rect">
            <a:avLst/>
          </a:prstGeom>
          <a:noFill/>
          <a:ln/>
        </p:spPr>
        <p:txBody>
          <a:bodyPr wrap="square" lIns="0" tIns="0" rIns="0" bIns="0" rtlCol="0" anchor="ctr"/>
          <a:lstStyle/>
          <a:p>
            <a:pPr indent="0" marL="0">
              <a:buNone/>
            </a:pPr>
            <a:r>
              <a:rPr lang="en-US" sz="1500" b="1" spc="220" kern="0" dirty="0">
                <a:solidFill>
                  <a:srgbClr val="A8552A"/>
                </a:solidFill>
              </a:rPr>
              <a:t>REFERENCES</a:t>
            </a:r>
            <a:endParaRPr lang="en-US" sz="1500" dirty="0"/>
          </a:p>
        </p:txBody>
      </p:sp>
      <p:sp>
        <p:nvSpPr>
          <p:cNvPr id="34" name="Text 27"/>
          <p:cNvSpPr txBox="1"/>
          <p:nvPr/>
        </p:nvSpPr>
        <p:spPr>
          <a:xfrm>
            <a:off x="14285976" y="28081224"/>
            <a:ext cx="6050280" cy="1207008"/>
          </a:xfrm>
          <a:prstGeom prst="rect">
            <a:avLst/>
          </a:prstGeom>
          <a:noFill/>
          <a:ln/>
        </p:spPr>
        <p:txBody>
          <a:bodyPr wrap="square" lIns="0" tIns="0" rIns="0" bIns="0" rtlCol="0" anchor="ctr"/>
          <a:lstStyle/>
          <a:p>
            <a:pPr indent="0" marL="0">
              <a:lnSpc>
                <a:spcPts val="1900"/>
              </a:lnSpc>
              <a:buNone/>
            </a:pPr>
            <a:r>
              <a:rPr lang="en-US" sz="1400" dirty="0">
                <a:solidFill>
                  <a:srgbClr val="52514E"/>
                </a:solidFill>
              </a:rPr>
              <a:t>Australian Bureau of Statistics. (2026). National, state and territory population, March 2026 [Data set]. abs.gov.au</a:t>
            </a:r>
            <a:endParaRPr lang="en-US" sz="1400" dirty="0"/>
          </a:p>
          <a:p>
            <a:pPr indent="0" marL="0">
              <a:lnSpc>
                <a:spcPts val="1900"/>
              </a:lnSpc>
              <a:buNone/>
            </a:pPr>
            <a:r>
              <a:rPr lang="en-US" sz="1400" dirty="0">
                <a:solidFill>
                  <a:srgbClr val="52514E"/>
                </a:solidFill>
              </a:rPr>
              <a:t>Northern Territory Government. (2026). Population. NT Economy. nteconomy.nt.gov.au</a:t>
            </a:r>
            <a:endParaRPr lang="en-US" sz="1400" dirty="0"/>
          </a:p>
        </p:txBody>
      </p:sp>
    </p:spTree>
  </p:cSld>
  <p:clrMapOvr>
    <a:masterClrMapping/>
  </p:clrMapOvr>
</p:sld>
</file>

<file path=ppt/theme/theme1.xml><?xml version="1.0" encoding="utf-8"?>
<a:theme xmlns:a="http://schemas.openxmlformats.org/drawingml/2006/main" name="NT Population Equation Poster">
  <a:themeElements>
    <a:clrScheme name="NT Population Equation Poster">
      <a:dk1>
        <a:srgbClr val="16181C"/>
      </a:dk1>
      <a:lt1>
        <a:srgbClr val="FCFCFB"/>
      </a:lt1>
      <a:dk2>
        <a:srgbClr val="52514E"/>
      </a:dk2>
      <a:lt2>
        <a:srgbClr val="F2F0EB"/>
      </a:lt2>
      <a:accent1>
        <a:srgbClr val="2A78D6"/>
      </a:accent1>
      <a:accent2>
        <a:srgbClr val="EB6834"/>
      </a:accent2>
      <a:accent3>
        <a:srgbClr val="1BAF7A"/>
      </a:accent3>
      <a:accent4>
        <a:srgbClr val="A8552A"/>
      </a:accent4>
      <a:accent5>
        <a:srgbClr val="8B857A"/>
      </a:accent5>
      <a:accent6>
        <a:srgbClr val="0B0B0B"/>
      </a:accent6>
      <a:hlink>
        <a:srgbClr val="2A78D6"/>
      </a:hlink>
      <a:folHlink>
        <a:srgbClr val="6250D6"/>
      </a:folHlink>
    </a:clrScheme>
    <a:fontScheme name="NT Population Equation Pos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Territory's Population Equation</dc:title>
  <dc:subject>PptxGenJS Presentation</dc:subject>
  <dc:creator>Van Hoi (Hendrick) Dang</dc:creator>
  <cp:lastModifiedBy>Van Hoi (Hendrick) Dang</cp:lastModifiedBy>
  <cp:revision>1</cp:revision>
  <dcterms:created xsi:type="dcterms:W3CDTF">2026-10-17T15:14:33Z</dcterms:created>
  <dcterms:modified xsi:type="dcterms:W3CDTF">2026-10-17T15:14:33Z</dcterms:modified>
</cp:coreProperties>
</file>